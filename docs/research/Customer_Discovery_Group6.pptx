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0"/>
            <a:ext cx="5852160" cy="25607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1417320"/>
            <a:ext cx="2208276" cy="384048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540764"/>
            <a:ext cx="128016" cy="128016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7510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MTLE 5001 · MIDTERM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Market &amp;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Customer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29584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A MISO research report on remote pet companionship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3858768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062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Group 6  ·  October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00600"/>
            <a:ext cx="138988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892040"/>
            <a:ext cx="1097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Interview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800600"/>
            <a:ext cx="138988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4892040"/>
            <a:ext cx="1097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Media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9311" y="4800600"/>
            <a:ext cx="138988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4892040"/>
            <a:ext cx="1097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Survey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3" y="4800600"/>
            <a:ext cx="1389888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7" y="4892040"/>
            <a:ext cx="10972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Observation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0"/>
            <a:ext cx="4937760" cy="166481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6949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Research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Four MISO tools, deliberately paired so that each one covers another one’s blind spot.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2558719" cy="1810512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255871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0428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42032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999232"/>
            <a:ext cx="21198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273552"/>
            <a:ext cx="211980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Owners across three living situations: alone, abroad, at a shop, at a farm.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9967" y="2121408"/>
            <a:ext cx="2558719" cy="1810512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9967" y="2121408"/>
            <a:ext cx="2558719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9423" y="230428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2542032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423" y="2999232"/>
            <a:ext cx="21198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423" y="3273552"/>
            <a:ext cx="211980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Industry data, competitor pricing, and cat behaviour science.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2121408"/>
            <a:ext cx="2558719" cy="1810512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2121408"/>
            <a:ext cx="2558719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463" y="230428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SURVEY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463" y="2542032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2999232"/>
            <a:ext cx="21198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273552"/>
            <a:ext cx="211980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Separation frequency, satisfaction, automation limits, price ceiling.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6047" y="2121408"/>
            <a:ext cx="2558719" cy="1810512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6047" y="2121408"/>
            <a:ext cx="255871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5503" y="2304288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5503" y="2542032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5503" y="2999232"/>
            <a:ext cx="21198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Behaviour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5503" y="3273552"/>
            <a:ext cx="211980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Shop, home and public settings — what pets actually do.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096512"/>
            <a:ext cx="1105783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187952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PAIRING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4187952"/>
            <a:ext cx="8369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PURPOSE IN THIS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54456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× Survey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4544568"/>
            <a:ext cx="83695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Surveys give scale; interviews give the reasons behind the percentages.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4823460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91032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× Observation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82112" y="4910328"/>
            <a:ext cx="83695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Checks whether what owners say matches what they and their pets actually do.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" y="5189220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7608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Media × Interview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5276088"/>
            <a:ext cx="83695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Explains the “why” behind industry trends — e.g. why cameras alone under-deliver.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Interview is the mandatory tool.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Three supporting tools were run in parallel so that every claim can be checked against a second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0"/>
            <a:ext cx="4754880" cy="21065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824228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13670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Research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Goals &amp;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Three hypotheses, each with a stated falsification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1057839" cy="960120"/>
          </a:xfrm>
          <a:prstGeom prst="roundRect">
            <a:avLst>
              <a:gd name="adj" fmla="val 1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68580" cy="96012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267712"/>
            <a:ext cx="1041775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RESEARCH QUESTION</a:t>
            </a:r>
          </a:p>
          <a:p>
            <a:pPr algn="l">
              <a:lnSpc>
                <a:spcPct val="124000"/>
              </a:lnSpc>
              <a:spcBef>
                <a:spcPts val="400"/>
              </a:spcBef>
            </a:pPr>
            <a:r>
              <a:rPr sz="12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How might we help pet owners feel informed and connected with their cats during everyday separation, while respecting the cat’s natural behaviour and rest?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28415"/>
            <a:ext cx="3503066" cy="22860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328415"/>
            <a:ext cx="3503066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3566159"/>
            <a:ext cx="420624" cy="420624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4845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33087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Separation is a daily 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6344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Owners are routinely apart from their pets — not only when travelling.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138927"/>
            <a:ext cx="3027578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202936"/>
            <a:ext cx="3027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FALSIFIED IF most owners are apart fewer than 3 days a month.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4314" y="3328415"/>
            <a:ext cx="3503066" cy="228600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4314" y="3328415"/>
            <a:ext cx="3503066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82058" y="3566159"/>
            <a:ext cx="420624" cy="420624"/>
          </a:xfrm>
          <a:prstGeom prst="ellipse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2058" y="364845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H2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2058" y="4133087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Cameras give visibility, not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2058" y="466344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Owners can see the pet but cannot act on what they see.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82058" y="5138927"/>
            <a:ext cx="3027578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2058" y="5202936"/>
            <a:ext cx="3027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FALSIFIED IF owners can act in time on what the camera shows.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1700" y="3328415"/>
            <a:ext cx="3503066" cy="228600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1700" y="3328415"/>
            <a:ext cx="3503066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59444" y="3566159"/>
            <a:ext cx="420624" cy="420624"/>
          </a:xfrm>
          <a:prstGeom prst="ellipse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9444" y="364845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9444" y="4133087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Automation only inside owner-set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9444" y="466344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Owners accept automation, but must control when and how it happens — and it must not disturb the pet.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59444" y="5138927"/>
            <a:ext cx="3027578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9444" y="5202936"/>
            <a:ext cx="3027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FALSIFIED IF owners accept full autonomy or disregard pet disturbance.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H2 was refined by the field interviews.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The gap is not “seeing” — it is acting on what is seen. Visibility without a response path changes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0"/>
            <a:ext cx="4754880" cy="1969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8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Why MISO — what each tool reveals, and what it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We chose the tools for their blind spots, then paired them so the blind spots cancel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2558719" cy="306324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2558719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5915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688336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REVEALS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907791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Patterns, frequency,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4787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BLIND 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767328"/>
            <a:ext cx="2119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Shallow, self-reported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261104"/>
            <a:ext cx="2119807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370831"/>
            <a:ext cx="2119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31 respondents — separation frequency and price ceiling.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9967" y="2121408"/>
            <a:ext cx="2558719" cy="306324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9967" y="2121408"/>
            <a:ext cx="255871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9423" y="235915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INTERVIEW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423" y="2688336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REVEALS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423" y="2907791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Meaning, emotions,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9423" y="354787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BLIND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423" y="3767328"/>
            <a:ext cx="2119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Rationalisation 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9423" y="4261104"/>
            <a:ext cx="2119807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9423" y="4370831"/>
            <a:ext cx="2119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5 owners — the reasons behind the percentages.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2121408"/>
            <a:ext cx="2558719" cy="306324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2121408"/>
            <a:ext cx="2558719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2463" y="235915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463" y="2688336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REVEALS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3" y="2907791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Actual behaviour, workarounds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2463" y="354787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BLIND SPOT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2463" y="3767328"/>
            <a:ext cx="2119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Small sample; interpretation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2463" y="4261104"/>
            <a:ext cx="2119807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2463" y="4370831"/>
            <a:ext cx="2119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3 settings — who initiates interaction and what interrupts rest.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66047" y="2121408"/>
            <a:ext cx="2558719" cy="306324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66047" y="2121408"/>
            <a:ext cx="255871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5503" y="235915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MEDIA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5503" y="2688336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REVEALS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5503" y="2907791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Norms, discourse, social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5503" y="3547872"/>
            <a:ext cx="2119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BLIND SPOT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5503" y="3767328"/>
            <a:ext cx="2119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Loud voices, extremes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5503" y="4261104"/>
            <a:ext cx="2119807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5503" y="4370831"/>
            <a:ext cx="2119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15 sources — industry, competitors, cat behaviour science.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Known failure modes we guarded against: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leading questions, confirmation bias, and treating an owner’s own explanation as an observation.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17340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7909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design &amp; question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Ten questions prepared in advance, plus a documented follow-up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4865449" cy="34290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486544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59152"/>
            <a:ext cx="438996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TARGET &amp; RECRUITMENT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88336"/>
            <a:ext cx="438996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▪  Strong bond, unable to be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907791"/>
            <a:ext cx="42436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Three situations: long working hours, long distance, delegated care.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346704"/>
            <a:ext cx="438996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▪  Convenience and snowball 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566160"/>
            <a:ext cx="42436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No requirement that the participant wants a product — disagreement is valuable.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05072"/>
            <a:ext cx="438996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▪  Three interview contexts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24528"/>
            <a:ext cx="42436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Students abroad (text), a shop owner and a farm household (in person).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63440"/>
            <a:ext cx="438996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▪  Consent and anonymisation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882896"/>
            <a:ext cx="42436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Participants briefed on course use; real names replaced with codes I1–I5.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985" y="2121408"/>
            <a:ext cx="5899781" cy="342900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24985" y="2121408"/>
            <a:ext cx="5899781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2729" y="2359152"/>
            <a:ext cx="54242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THE 10 PREPARED QUESTIONS · 5 BLOCKS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2729" y="2688336"/>
            <a:ext cx="5424293" cy="2084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9033" y="2779776"/>
            <a:ext cx="151631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BLOCK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4807" y="2779776"/>
            <a:ext cx="3469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9033" y="3118103"/>
            <a:ext cx="15163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1 · Bond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4807" y="3118103"/>
            <a:ext cx="3469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pet’s role in daily life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9033" y="3378708"/>
            <a:ext cx="5131685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9033" y="3465575"/>
            <a:ext cx="15163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2 · Separation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4807" y="3465575"/>
            <a:ext cx="3469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Feelings and worries when leaving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9033" y="3726180"/>
            <a:ext cx="5131685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9033" y="3813048"/>
            <a:ext cx="15163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3 · Current care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4807" y="3813048"/>
            <a:ext cx="3469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Cameras, family, boarding — what works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9033" y="4073652"/>
            <a:ext cx="5131685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9033" y="4160520"/>
            <a:ext cx="15163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4 · Friction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4807" y="4160520"/>
            <a:ext cx="3469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Moments that increase anxiety instead of easing 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9033" y="4421124"/>
            <a:ext cx="5131685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9033" y="4507992"/>
            <a:ext cx="15163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5 · Concept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4807" y="4507992"/>
            <a:ext cx="3469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Desired feedback; gentle vs intrusive interaction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2729" y="4864608"/>
            <a:ext cx="542429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PROBING RULE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Open questions only — “Can you describe…”, “How did that feel…”. Documented for every interview: answers, inconsistencies, and at least 5 follow-up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200058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7909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The five interviews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Two very different kinds of separation emerged from the same five conversations.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105783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28346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2212848"/>
            <a:ext cx="298094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212848"/>
            <a:ext cx="138074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212848"/>
            <a:ext cx="215798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LIVING 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212848"/>
            <a:ext cx="1152144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2212848"/>
            <a:ext cx="17830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06624"/>
            <a:ext cx="28346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1" y="2706624"/>
            <a:ext cx="29809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Christian, 25, internet industry, lives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06624"/>
            <a:ext cx="13807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Ragdoll, 4y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706624"/>
            <a:ext cx="215798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Apartment, alone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706624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WeChat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2706624"/>
            <a:ext cx="178308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Transcript + photos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12267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209544"/>
            <a:ext cx="28346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1" y="3209544"/>
            <a:ext cx="29809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Randy, 23, overseas 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3209544"/>
            <a:ext cx="13807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American Shorthair, 2y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3209544"/>
            <a:ext cx="215798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Family home, owner abroad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209544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WeChat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209544"/>
            <a:ext cx="178308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Transcript + photos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62559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712463"/>
            <a:ext cx="28346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1" y="3712463"/>
            <a:ext cx="29809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James, overseas student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3712463"/>
            <a:ext cx="13807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2 Toy Poodles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3712463"/>
            <a:ext cx="215798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Family home, owner abroad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712463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WeChat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3712463"/>
            <a:ext cx="178308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Written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128515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215383"/>
            <a:ext cx="28346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1" y="4215383"/>
            <a:ext cx="29809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Barbershop owner, ~30, bar shift to 5am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4215383"/>
            <a:ext cx="13807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Two cats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6752" y="4215383"/>
            <a:ext cx="215798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Live in the shop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215383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In person ·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4215383"/>
            <a:ext cx="178308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Field notes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63143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718303"/>
            <a:ext cx="28346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1" y="4718303"/>
            <a:ext cx="29809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Neighbour, 22–23, family farm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4718303"/>
            <a:ext cx="13807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One cat + dog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16752" y="4718303"/>
            <a:ext cx="215798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Farm, 1 hour away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718303"/>
            <a:ext cx="11521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In person · 10m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5792" y="4718303"/>
            <a:ext cx="178308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Photos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Two kinds of absence, two different product needs.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Owners separated by time (night shifts, time zones) and owners separated by distance and delegated care do not want the same 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20255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I1–I3 · Owners separated by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Remote owners describe a loop that closes badly: they check, they worry more, they still cannot 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3503066" cy="32004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3503066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40863"/>
            <a:ext cx="304586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4/5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07791"/>
            <a:ext cx="30458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describe a routine, daily separation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64991"/>
            <a:ext cx="304586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Separation is caused by work schedules, time zones or study abroad — not by occasional travel.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663440"/>
            <a:ext cx="3027578" cy="4572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718304"/>
            <a:ext cx="304586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“He’s not just a pet, he’s my family.”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— I1, 25, lives alone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4314" y="2121408"/>
            <a:ext cx="3503066" cy="320040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4314" y="2121408"/>
            <a:ext cx="3503066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2058" y="2340863"/>
            <a:ext cx="304586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4/5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2907791"/>
            <a:ext cx="30458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report that checking can increase anxiety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2058" y="3364991"/>
            <a:ext cx="304586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Cameras confirm safety, but seeing the pet wait alone often deepens worry rather than easing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2058" y="4663440"/>
            <a:ext cx="3027578" cy="4572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2058" y="4718304"/>
            <a:ext cx="304586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“Seeing her at the door all day makes me worry more — what if she’s lonely or unwell?”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— I2, overseas student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1700" y="2121408"/>
            <a:ext cx="3503066" cy="320040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1700" y="2121408"/>
            <a:ext cx="3503066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9444" y="2340863"/>
            <a:ext cx="304586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9444" y="2907791"/>
            <a:ext cx="30458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want a more meaningful connection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9444" y="3364991"/>
            <a:ext cx="304586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They ask for automatic highlight clips, insight into their pet’s state, and two-way interaction — not another one-way voice call.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9444" y="4663440"/>
            <a:ext cx="3027578" cy="4572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9444" y="4718304"/>
            <a:ext cx="304586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“I don’t just want to see her. I want to feel like I’m really there.”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— I1, 25, lives alone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The same disappointment appears in three interviews.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Calling through the camera makes the pet search for the owner and then give up — owners describe guilt, not reassurance.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18940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1655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I4–I5 · Owners separated by distance and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Both have a camera. The camera does not do the same job for either of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5382615" cy="32004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5382615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9152"/>
            <a:ext cx="48705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I4 · BARBERSHOP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24912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Cats live permanently in the shop; he arrives about 1pm, starts cutting at 2pm, then works at a bar until 5am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45536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He believes cats need no dedicated play — “cats are not like dogs”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He bought several toys; the cats ignored them, so he concluded toys are unnecessary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86784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The cats usually walk up to people on their own; the two cats behave very differently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07408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Loud hip-hop plays in the shop and repeatedly interrupts the cats’ sleep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28032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The camera is for “managing” the cats — in practice he watches the shop from the bar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2121408"/>
            <a:ext cx="5382615" cy="320040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2151" y="2121408"/>
            <a:ext cx="5382615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8183" y="2359152"/>
            <a:ext cx="48705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I5 · FARM HOUSEHOLD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8183" y="2724912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Cat and dog are housed at the family farm, about a one-hour drive from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3145536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He visits roughly three to four days a week; workers feed the animals “on the way”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3566160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His father runs the farm but has little interest in the pets; the family found keeping a pet at home troublesome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8183" y="3986784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He worries about the many stray dogs nearby — another dog was previously killed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183" y="4407408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The camera shows him the situation, but he cannot act on what he sees in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8183" y="4828032"/>
            <a:ext cx="487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He would welcome a device that helps with care and interaction, but has never bought 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Same technology, different task.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One camera is a shop-management tool; the other is a remote-care tool that fails at the response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17340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2208276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17510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Follow-up questions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Probing moved every conversation from opinion to event. Five are documented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1057839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32918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212848"/>
            <a:ext cx="252374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INITIAL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2212848"/>
            <a:ext cx="389534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FOLLOW-UP ASKED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2212848"/>
            <a:ext cx="3429000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WHAT IT WAS MEANT TO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70632"/>
            <a:ext cx="329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770632"/>
            <a:ext cx="2523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“Cats don’t need to be managed much.”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770632"/>
            <a:ext cx="38953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Which things need no attention at all, and which do you still do every day?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770632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Separate ambient care from interactive care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250692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337560"/>
            <a:ext cx="329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337560"/>
            <a:ext cx="2523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“The cats usually walk up to me.”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3337560"/>
            <a:ext cx="38953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When was the most recent time? Which cat? What did you do then?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3337560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Turn a generalisation into a concrete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817620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04487"/>
            <a:ext cx="329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904487"/>
            <a:ext cx="2523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“I bought toys but they ignored them.”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904487"/>
            <a:ext cx="38953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What toys, how were they placed, did you play with them, how long did you try?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3904487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Recover the process, not the conclusion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384548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471416"/>
            <a:ext cx="329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471416"/>
            <a:ext cx="2523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“I visit three to four days a week.”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4471416"/>
            <a:ext cx="38953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 the days you don’t go, how do you know how the cat is doing?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1" y="4471416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Resolve the contradiction with “I can’t get there often”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95147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038344"/>
            <a:ext cx="329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5038344"/>
            <a:ext cx="2523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“The camera shows me, but I can’t respond in time.”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5072" y="5038344"/>
            <a:ext cx="38953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What did you do last time? Who did you contact, how long did it take, how did it end?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1" y="5038344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Map the response chain and locate the break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Inconsistencies were recorded, not smoothed over.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Where an owner’s explanation and the observable behaviour disagreed, both were kept — that gap is where the opportunity sits.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0"/>
            <a:ext cx="4937760" cy="270489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9829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Three settings, and the behaviour we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Observation checks whether what owners say matches what actually happens.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3503066" cy="20574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3503066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59152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S1 · Barbershop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651760"/>
            <a:ext cx="30641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5 Oct 2026 · afternoon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907791"/>
            <a:ext cx="30641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Shop owner, 2 staff, walk-in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401568"/>
            <a:ext cx="306415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Resting place; scratching of the sofa; sleep interrupted by music; distance kept from people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4314" y="2121408"/>
            <a:ext cx="3503066" cy="205740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4314" y="2121408"/>
            <a:ext cx="3503066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3770" y="2359152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S2 · Owner’s 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770" y="2651760"/>
            <a:ext cx="30641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To be scheduled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3770" y="2907791"/>
            <a:ext cx="30641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Single-person household, cat alone in daytime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770" y="3401568"/>
            <a:ext cx="306415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Camera and feeder positions; blind spots in coverage; where the cat rests; door and window risks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1700" y="2121408"/>
            <a:ext cx="3503066" cy="205740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1700" y="2121408"/>
            <a:ext cx="3503066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1156" y="2359152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S3 · Public setting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156" y="2651760"/>
            <a:ext cx="30641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To be scheduled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1156" y="2907791"/>
            <a:ext cx="30641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Owners with pets in an unfamiliar 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1156" y="3401568"/>
            <a:ext cx="306415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Stress signals of the pet; owner’s calming actions; changes in distance; phone-checking frequency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407408"/>
            <a:ext cx="11057839" cy="128016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407408"/>
            <a:ext cx="1105783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FIELD NOTE FROM S1 (RECORDED)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64608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The shop has a cat tree and a sofa — the cats still scratch the sofa, so “nowhere to scratch” is not the explanation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20640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Within the observed period, the cats did not knock over any of the many bottles and instruments on 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76672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Loud hip-hop plays regularly and repeatedly interrupts the cats’ sleep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15414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4069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What secondary research adds: 15 sources, 5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Industry &amp; market (3) · peer-reviewed &amp; veterinary guidance (4) · user reviews (4) · vendor &amp; media (4).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1057839" cy="3456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3529583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FINDING FROM SECONDARY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212848"/>
            <a:ext cx="923544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2212848"/>
            <a:ext cx="5943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WHAT IT MEANS FOR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79775"/>
            <a:ext cx="352958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The market is large, but the smart-companion hardware slot is small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779775"/>
            <a:ext cx="92354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S1,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2779775"/>
            <a:ext cx="59436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Food + medical = 81.3% of pet spending. The emotional need is acknowledged; payment concentrates elsewhere.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268979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55847"/>
            <a:ext cx="352958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Living alone and younger owners is a structural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55847"/>
            <a:ext cx="92354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S3, S1, 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3355847"/>
            <a:ext cx="59436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segment exists and is growing — but macro statistics cannot predict individual purchase.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845052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31920"/>
            <a:ext cx="352958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Cats cope with being alone, yet only respond to the owner’s voice and cat-directed speech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931920"/>
            <a:ext cx="92354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S4, S7, 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272" y="3931920"/>
            <a:ext cx="59436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Remote audio must use the owner’s own voice, be low-frequency and predictable. “No response” is a normal result.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421124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07992"/>
            <a:ext cx="352958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Real camera complaints are false alerts, startling the pet, dropouts and subscriptions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507992"/>
            <a:ext cx="92354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S8, S11, S15, S6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4507992"/>
            <a:ext cx="59436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Differentiate on fewer interruptions and more reliable judgement; multi-cat identification is a must-have.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99719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084064"/>
            <a:ext cx="352958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Competitors sell companionship as hardware + subscription, but the cat offer stops at meow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5084064"/>
            <a:ext cx="92354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S12–S15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5084064"/>
            <a:ext cx="59436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open space is understanding plus non-intrusive, owner-controlled interaction.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Source codes refer to the supporting document.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“13-Media研究报告” lists all 15 sources with live URL and access date (2026-10-06).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20255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4069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Three weaknesses in the secondary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Secondary research was treated as a source of hypotheses, not of proof.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3503066" cy="320040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3503066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359152"/>
            <a:ext cx="402336" cy="402336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43230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B1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907791"/>
            <a:ext cx="306415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Vendor and commercial content pollutes search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84448"/>
            <a:ext cx="306415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top-ranked “review” was flagged as containing AI-generated content, cited labs we could not verify, and ended with a promotion. A widely-cited cat-sitting guide is itself AIGC aggregation.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626864"/>
            <a:ext cx="3064154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736592"/>
            <a:ext cx="30641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HOW WE HANDLED IT</a:t>
            </a:r>
          </a:p>
          <a:p>
            <a:pPr algn="l">
              <a:lnSpc>
                <a:spcPct val="126000"/>
              </a:lnSpc>
              <a:spcBef>
                <a:spcPts val="200"/>
              </a:spcBef>
            </a:pPr>
            <a:r>
              <a:rPr sz="8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Only official, verifiable features and pricing were used. Unverifiable figures were discarded entirely.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4314" y="2121408"/>
            <a:ext cx="3503066" cy="320040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4314" y="2121408"/>
            <a:ext cx="3503066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63770" y="2359152"/>
            <a:ext cx="402336" cy="402336"/>
          </a:xfrm>
          <a:prstGeom prst="ellipse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3770" y="243230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B2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3770" y="2907791"/>
            <a:ext cx="306415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Review channels suffer self-selection and survivorship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770" y="3584448"/>
            <a:ext cx="306415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same product scores 4.8/5 on the official store, while an aggregator rates 67.1% of 5,461 reviews negative. One reviewer notes positive raters “just received the product”.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3770" y="4626864"/>
            <a:ext cx="3064154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3770" y="4736592"/>
            <a:ext cx="30641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HOW WE HANDLED IT</a:t>
            </a:r>
          </a:p>
          <a:p>
            <a:pPr algn="l">
              <a:lnSpc>
                <a:spcPct val="126000"/>
              </a:lnSpc>
              <a:spcBef>
                <a:spcPts val="200"/>
              </a:spcBef>
            </a:pPr>
            <a:r>
              <a:rPr sz="8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Reviews were used only to identify the kinds of pain points and their language — never to infer proportions.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700" y="2121408"/>
            <a:ext cx="3503066" cy="320040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1700" y="2121408"/>
            <a:ext cx="3503066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41156" y="2359152"/>
            <a:ext cx="402336" cy="402336"/>
          </a:xfrm>
          <a:prstGeom prst="ellipse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1156" y="243230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B3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1156" y="2907791"/>
            <a:ext cx="306415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Samples and definitions are not comparable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1156" y="3584448"/>
            <a:ext cx="306415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Cat behaviour evidence comes from 14 Swedish cats and 16 French cats; Chinese material skews urban, young and female; two different market-size definitions are often mixed.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1156" y="4626864"/>
            <a:ext cx="3064154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1156" y="4736592"/>
            <a:ext cx="306415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HOW WE HANDLED IT</a:t>
            </a:r>
          </a:p>
          <a:p>
            <a:pPr algn="l">
              <a:lnSpc>
                <a:spcPct val="126000"/>
              </a:lnSpc>
              <a:spcBef>
                <a:spcPts val="200"/>
              </a:spcBef>
            </a:pPr>
            <a:r>
              <a:rPr sz="8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Every behavioural claim is reported with its sample size. All figures carry an explicit sample boundary.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Research gap stated openly: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no first-hand platform evidence for cat-owner complaints (review sites require login), and the primary literature on cat ultrasound could not be accessed.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0"/>
            <a:ext cx="4754880" cy="26047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What the survey adds: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31 respondents. The percentages turned our interview themes into a measurable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2558719" cy="201168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255871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95727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74.2%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35808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separated ≥4h on 3+ days a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62102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23 of 31 — a daily pattern, not occasional travel.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9967" y="2121408"/>
            <a:ext cx="2558719" cy="201168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9967" y="2121408"/>
            <a:ext cx="2558719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2395727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80.6%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423" y="3035808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worried about their pet, at least sometimes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362102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And 74.2% feel they lack enough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121408"/>
            <a:ext cx="2558719" cy="2011680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2121408"/>
            <a:ext cx="2558719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2463" y="2395727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32.3%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3035808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satisfied with their current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463" y="362102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Only about a third — on both knowing and feeling connected.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6047" y="2121408"/>
            <a:ext cx="2558719" cy="201168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6047" y="2121408"/>
            <a:ext cx="255871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5503" y="2395727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5503" y="3035808"/>
            <a:ext cx="21198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accept automation within limits they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5503" y="3621024"/>
            <a:ext cx="2119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Only 6.5% reject automation entirely.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297679"/>
            <a:ext cx="11057839" cy="1243584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297679"/>
            <a:ext cx="11057839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443983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THE CONTRADICTION WORTH EXAMINING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27448"/>
            <a:ext cx="530776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Owner-initiated voice / toy interaction</a:t>
            </a:r>
          </a:p>
          <a:p>
            <a:pPr algn="l">
              <a:lnSpc>
                <a:spcPct val="124000"/>
              </a:lnSpc>
              <a:spcBef>
                <a:spcPts val="200"/>
              </a:spcBef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71% rate it valuable (22 of 31) — owners say it is useful…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7004" y="4700016"/>
            <a:ext cx="7315" cy="731520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3036" y="4727448"/>
            <a:ext cx="486544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Pick the single most important feature</a:t>
            </a:r>
          </a:p>
          <a:p>
            <a:pPr algn="l">
              <a:lnSpc>
                <a:spcPct val="124000"/>
              </a:lnSpc>
              <a:spcBef>
                <a:spcPts val="200"/>
              </a:spcBef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1 respondent chose it (3.2%). Useful ≠ a reason to purchase.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The interviews explain the gap.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I4 had already tried toys, they failed, and he concluded interactive devices are unnecessary — a second failed attempt closes the need permanently.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0"/>
            <a:ext cx="4480560" cy="19605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7909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Triangulation · insight validation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We looked for contradictions as well as confirmations, then rated each insight by how many sources support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1057839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256946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12848"/>
            <a:ext cx="192938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INTERVIEW (N=5)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212848"/>
            <a:ext cx="138074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SURVEY (N=31)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212848"/>
            <a:ext cx="124358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2212848"/>
            <a:ext cx="1472184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5872" y="2212848"/>
            <a:ext cx="1143000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256946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Separation is frequent and daily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770632"/>
            <a:ext cx="19293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4/5 describe routine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770632"/>
            <a:ext cx="1380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74.2% ≥3 days/week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770632"/>
            <a:ext cx="12435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S1–S3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2770632"/>
            <a:ext cx="1472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2770632"/>
            <a:ext cx="1143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250692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337560"/>
            <a:ext cx="256946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Seeing the pet is not reassurance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3337560"/>
            <a:ext cx="19293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I1, I2, I3: anxiety rises after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3337560"/>
            <a:ext cx="1380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Satisfaction 32.3%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337560"/>
            <a:ext cx="12435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S8, S15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3337560"/>
            <a:ext cx="1472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3337560"/>
            <a:ext cx="1143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817620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904487"/>
            <a:ext cx="256946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Response capability, not visibility, is the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3904487"/>
            <a:ext cx="19293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I2, I5 cannot act on what they see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3904487"/>
            <a:ext cx="1380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51.6% fear disturbing the pet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3904487"/>
            <a:ext cx="12435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3904487"/>
            <a:ext cx="1472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S1 owner absent at night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3904487"/>
            <a:ext cx="1143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384548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471416"/>
            <a:ext cx="256946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Pets initiate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2152" y="4471416"/>
            <a:ext cx="19293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I4 yes / I5 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4471416"/>
            <a:ext cx="1380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4471416"/>
            <a:ext cx="12435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S4, S7 (n=14/16)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4471416"/>
            <a:ext cx="1472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Cats walk up to people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72" y="4471416"/>
            <a:ext cx="1143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Low — conflicting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95147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038344"/>
            <a:ext cx="256946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Devices must not disturb the pet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2152" y="5038344"/>
            <a:ext cx="19293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I4: shop music already disrupts sleep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0992" y="5038344"/>
            <a:ext cx="138074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51.6% barrier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1192" y="5038344"/>
            <a:ext cx="12435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S5, S6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232" y="5038344"/>
            <a:ext cx="14721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Direct observation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05872" y="5038344"/>
            <a:ext cx="1143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Medium-High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The pet-initiated interaction finding runs in opposite directions.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One owner’s cats approach people on their own; another’s cat is not clingy. It cannot be generalised from this sample — and it is the premise the concept rests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0"/>
            <a:ext cx="4480560" cy="169932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6949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Six findings, ordered by how strongly they are supported across the four tools.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5391759" cy="1024128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539175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276856"/>
            <a:ext cx="438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Separation is a daily condition, not an occasional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606039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74.2% of respondents are away for 4+ consecutive hours on 3+ days a week. Design for a routine, not for travel.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121408"/>
            <a:ext cx="5391759" cy="1024128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121408"/>
            <a:ext cx="5391759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3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9391" y="2276856"/>
            <a:ext cx="438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Cameras deliver visibility, not reassurance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2606039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Only 32.3% are satisfied. Watching a pet that waits alone often increases anxiety instead of reducing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55263"/>
            <a:ext cx="5391759" cy="1024128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255263"/>
            <a:ext cx="5391759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4381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410711"/>
            <a:ext cx="438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The real gap sits after the camera, in response capability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739896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I5 can see the cat but is an hour away; I4 can see the shop from the bar but cannot act. Visibility without response.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255263"/>
            <a:ext cx="5391759" cy="1024128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3255263"/>
            <a:ext cx="5391759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2463" y="34381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9391" y="3410711"/>
            <a:ext cx="438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Care chains rest on fragile arrangements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9391" y="3739896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Feeding depends on workers passing by, and the person who cares most is not the person on site. A camera cannot fix who is present.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389120"/>
            <a:ext cx="5391759" cy="1024128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389120"/>
            <a:ext cx="5391759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4544568"/>
            <a:ext cx="438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Owners accept automation only within boundaries they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4873752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71% accept bounded automation; only 6.5% reject it outright. The desired model is human-in-the-loop.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4389120"/>
            <a:ext cx="5391759" cy="1024128"/>
          </a:xfrm>
          <a:prstGeom prst="roundRect">
            <a:avLst>
              <a:gd name="adj" fmla="val 10000"/>
            </a:avLst>
          </a:prstGeom>
          <a:solidFill>
            <a:srgbClr val="EC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3007" y="4389120"/>
            <a:ext cx="5391759" cy="68580"/>
          </a:xfrm>
          <a:prstGeom prst="rect">
            <a:avLst/>
          </a:prstGeom>
          <a:solidFill>
            <a:srgbClr val="2B7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2463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B7FD4"/>
                </a:solidFill>
                <a:latin typeface="Poppins"/>
                <a:ea typeface="PingFang SC"/>
                <a:cs typeface="PingFang SC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9391" y="4544568"/>
            <a:ext cx="43859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Pet-initiated interaction is real but inconsistent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9391" y="4873752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One owner’s cats approach people; another’s cat is not clingy. This cannot be generalised yet — and the concept rests on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15414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Rigour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Potential biases &amp;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These limits are stated so the findings are read at the right strength.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1057839" cy="41330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192024" cy="370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212848"/>
            <a:ext cx="3438144" cy="370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212848"/>
            <a:ext cx="6766559" cy="3703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HOW IT AFFECTS THE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20339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720339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Small samples — 5 interviews, 31 survey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20339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Percentages are unstable; 1 respondent = 3.2%. Findings are existence proofs, not population estimates.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150108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36975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36975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Text-based interviews for I1–I3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236975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Answers are more composed and complete than in speech, with less spontaneity — this can flatter the interviewer’s questions.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666744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753611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753611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Convenience and acquaintance sampling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3753611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Participants are friends, a neighbour and a customer; social-desirability bias is likely.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183380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70248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270248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Interviewer bias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4270248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interviewer is afraid of cats, which may affect how cat behaviour was observed and interpreted.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700016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786883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" y="4786883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Owner explanations recorded as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4786883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For I4 especially, the owner’s account (“cats need no play”) coexists with contradictory behaviour. Both are reported separately.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216651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303519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5303519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Interviewer inference vs participant statements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5303519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“Guilt while watching the camera” was the interviewer’s inference, not a participant’s words. It is flagged as a hypothesis.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5733287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820155"/>
            <a:ext cx="19202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5820155"/>
            <a:ext cx="3438144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Photographic evidence incomplete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2312" y="5820155"/>
            <a:ext cx="6766559" cy="3886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On-site photos exist for I5 only; I4 photos and consent records are pending.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18940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7909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What this changes for the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research moves the problem statement, and leaves three questions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5382615" cy="1737360"/>
          </a:xfrm>
          <a:prstGeom prst="roundRect">
            <a:avLst>
              <a:gd name="adj" fmla="val 10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5382615" cy="68580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40863"/>
            <a:ext cx="48705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SHIFT THE 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88336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From “help owners see their pet” to “help owners act when it matters”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From “more features” to “a response path that actually closes”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3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From full autonomy to owner-defined boundaries the system operates inside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2121408"/>
            <a:ext cx="5382615" cy="1737360"/>
          </a:xfrm>
          <a:prstGeom prst="roundRect">
            <a:avLst>
              <a:gd name="adj" fmla="val 10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2151" y="2121408"/>
            <a:ext cx="5382615" cy="68580"/>
          </a:xfrm>
          <a:prstGeom prst="rect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2340863"/>
            <a:ext cx="48705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0A088"/>
                </a:solidFill>
                <a:latin typeface="Poppins"/>
                <a:ea typeface="PingFang SC"/>
                <a:cs typeface="PingFang SC"/>
              </a:rPr>
              <a:t>OPEN QUESTIONS FOR THE NEXT 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183" y="2688336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Who is the local responder when the owner is an hour away?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3017520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What is the minimum interaction a cat will initiate repeatedly?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8183" y="3346703"/>
            <a:ext cx="48705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▪  How quiet must a device be in an already noisy environment?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977639"/>
            <a:ext cx="11057839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069079"/>
            <a:ext cx="29809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VALIDATION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4069079"/>
            <a:ext cx="3346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4069079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WHAT WOULD FALSIFY OUR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43983"/>
            <a:ext cx="2980944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Test whether cats re-engage with a 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4443983"/>
            <a:ext cx="3346704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Observation in 3 homes over 1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4443983"/>
            <a:ext cx="406908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Cats approach once and never return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741164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28031"/>
            <a:ext cx="2980944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Test the response-path concept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2" y="4828031"/>
            <a:ext cx="3346704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Prototype a care-log + contact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4828031"/>
            <a:ext cx="406908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Owners say the camera is already enough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125212"/>
            <a:ext cx="10765231" cy="7315"/>
          </a:xfrm>
          <a:prstGeom prst="rect">
            <a:avLst/>
          </a:prstGeom>
          <a:solidFill>
            <a:srgbClr val="E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212079"/>
            <a:ext cx="2980944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Test sound tolerance in a noisy room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3632" y="5212079"/>
            <a:ext cx="3346704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Companion observation in the barbershop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5212079"/>
            <a:ext cx="406908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The cat shows no reaction to added sound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Every claim above is bounded by the limits on the previous slide.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These are directions for validation, not validated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0"/>
            <a:ext cx="4206240" cy="18635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" y="310896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434340"/>
            <a:ext cx="118872" cy="118872"/>
          </a:xfrm>
          <a:prstGeom prst="ellipse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379476"/>
            <a:ext cx="6949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86384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100" b="1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Interview documentation (photos)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5A646E"/>
                </a:solidFill>
                <a:latin typeface="Poppins"/>
                <a:ea typeface="PingFang SC"/>
                <a:cs typeface="PingFang SC"/>
              </a:rPr>
              <a:t>Replace each frame with the corresponding image and keep the caption.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77440"/>
            <a:ext cx="713232" cy="50292"/>
          </a:xfrm>
          <a:prstGeom prst="rect">
            <a:avLst/>
          </a:prstGeom>
          <a:solidFill>
            <a:srgbClr val="F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350306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E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28900"/>
            <a:ext cx="31373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PHOTO 1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I4 — the barbershop owner with one of his cats, inside the shop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2121408"/>
            <a:ext cx="350306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E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7194" y="2628900"/>
            <a:ext cx="31373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PHOTO 2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I4 — cat tree and sofa; the camera’s mounting 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1700" y="2121408"/>
            <a:ext cx="350306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E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4580" y="2628900"/>
            <a:ext cx="31373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PHOTO 3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I4 — phone live view of the shop (blur account details)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60520"/>
            <a:ext cx="350306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E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668012"/>
            <a:ext cx="31373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PHOTO 4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I5 — the participant on site at the family farm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4314" y="4160520"/>
            <a:ext cx="350306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E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7194" y="4668012"/>
            <a:ext cx="31373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PHOTO 5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I5 — the house where the cat is kept, and the dog’s tether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700" y="4160520"/>
            <a:ext cx="350306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EE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4580" y="4668012"/>
            <a:ext cx="313730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PHOTO 6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8A939C"/>
                </a:solidFill>
                <a:latin typeface="Poppins"/>
                <a:ea typeface="PingFang SC"/>
                <a:cs typeface="PingFang SC"/>
              </a:rPr>
              <a:t>I1 / I2 — the pets of the remote owners (provided by participants)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760720"/>
            <a:ext cx="11057839" cy="676656"/>
          </a:xfrm>
          <a:prstGeom prst="roundRect">
            <a:avLst>
              <a:gd name="adj" fmla="val 22000"/>
            </a:avLst>
          </a:prstGeom>
          <a:solidFill>
            <a:srgbClr val="F0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" y="5879592"/>
            <a:ext cx="438912" cy="438912"/>
          </a:xfrm>
          <a:prstGeom prst="ellipse">
            <a:avLst/>
          </a:prstGeom>
          <a:solidFill>
            <a:srgbClr val="00A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16752"/>
            <a:ext cx="329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Poppins"/>
                <a:ea typeface="PingFang SC"/>
                <a:cs typeface="PingFang SC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5879592"/>
            <a:ext cx="10006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4818"/>
                </a:solidFill>
                <a:latin typeface="Poppins"/>
                <a:ea typeface="PingFang SC"/>
                <a:cs typeface="PingFang SC"/>
              </a:rPr>
              <a:t>Blur names, avatars, addresses and device IDs before submission.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 i="0">
                <a:solidFill>
                  <a:srgbClr val="001B3A"/>
                </a:solidFill>
                <a:latin typeface="Poppins"/>
                <a:ea typeface="PingFang SC"/>
                <a:cs typeface="PingFang SC"/>
              </a:rPr>
              <a:t>Photos provided by participants are labelled as such and are not presented as researcher observation.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